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tags/tag10.xml" ContentType="application/vnd.openxmlformats-officedocument.presentationml.tags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tags/tag11.xml" ContentType="application/vnd.openxmlformats-officedocument.presentationml.tags+xml"/>
  <Override PartName="/ppt/notesSlides/notesSlide10.xml" ContentType="application/vnd.openxmlformats-officedocument.presentationml.notesSlide+xml"/>
  <Override PartName="/ppt/tags/tag12.xml" ContentType="application/vnd.openxmlformats-officedocument.presentationml.tags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custDataLst>
    <p:tags r:id="rId15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-192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3D5A80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31.6</c:v>
                </c:pt>
                <c:pt idx="1">
                  <c:v>33.700000000000003</c:v>
                </c:pt>
                <c:pt idx="2">
                  <c:v>39</c:v>
                </c:pt>
                <c:pt idx="3">
                  <c:v>45.2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7C-4864-B78F-A3F99FC81BF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income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5.6</c:v>
                </c:pt>
                <c:pt idx="1">
                  <c:v>7</c:v>
                </c:pt>
                <c:pt idx="2">
                  <c:v>10.4</c:v>
                </c:pt>
                <c:pt idx="3">
                  <c:v>13.3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37C-4864-B78F-A3F99FC81B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3F3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B6B6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</c:v>
                </c:pt>
              </c:strCache>
            </c:strRef>
          </c:tx>
          <c:spPr>
            <a:ln w="31750" cap="flat">
              <a:solidFill>
                <a:srgbClr val="8D99A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8D99AE"/>
              </a:solidFill>
              <a:ln w="9525" cap="flat">
                <a:solidFill>
                  <a:srgbClr val="8D99AE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39.4</c:v>
                </c:pt>
                <c:pt idx="1">
                  <c:v>41.5</c:v>
                </c:pt>
                <c:pt idx="2">
                  <c:v>46.1</c:v>
                </c:pt>
                <c:pt idx="3">
                  <c:v>48.5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F9CD-4F84-A0A9-D71D8DEB2B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</c:v>
                </c:pt>
              </c:strCache>
            </c:strRef>
          </c:tx>
          <c:spPr>
            <a:ln w="31750" cap="flat">
              <a:solidFill>
                <a:srgbClr val="3D5A8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D5A80"/>
              </a:solidFill>
              <a:ln w="9525" cap="flat">
                <a:solidFill>
                  <a:srgbClr val="3D5A80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17.8</c:v>
                </c:pt>
                <c:pt idx="1">
                  <c:v>20.6</c:v>
                </c:pt>
                <c:pt idx="2">
                  <c:v>26.7</c:v>
                </c:pt>
                <c:pt idx="3">
                  <c:v>29.5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F9CD-4F84-A0A9-D71D8DEB2BF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14.2</c:v>
                </c:pt>
                <c:pt idx="1">
                  <c:v>16</c:v>
                </c:pt>
                <c:pt idx="2">
                  <c:v>22.3</c:v>
                </c:pt>
                <c:pt idx="3">
                  <c:v>24.3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F9CD-4F84-A0A9-D71D8DEB2BF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FCF</c:v>
                </c:pt>
              </c:strCache>
            </c:strRef>
          </c:tx>
          <c:spPr>
            <a:ln w="31750" cap="flat">
              <a:solidFill>
                <a:srgbClr val="E5091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50914"/>
              </a:solidFill>
              <a:ln w="9525" cap="flat">
                <a:solidFill>
                  <a:srgbClr val="E50914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5.0999999999999996</c:v>
                </c:pt>
                <c:pt idx="1">
                  <c:v>20.5</c:v>
                </c:pt>
                <c:pt idx="2">
                  <c:v>17.7</c:v>
                </c:pt>
                <c:pt idx="3">
                  <c:v>21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F9CD-4F84-A0A9-D71D8DEB2B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3F3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B6B6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Netflix</c:v>
                </c:pt>
              </c:strCache>
            </c:strRef>
          </c:tx>
          <c:spPr>
            <a:solidFill>
              <a:srgbClr val="E50914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NFLX</c:v>
                </c:pt>
                <c:pt idx="1">
                  <c:v>CMCSA</c:v>
                </c:pt>
                <c:pt idx="2">
                  <c:v>DIS</c:v>
                </c:pt>
                <c:pt idx="3">
                  <c:v>PSKY</c:v>
                </c:pt>
                <c:pt idx="4">
                  <c:v>SPOT</c:v>
                </c:pt>
                <c:pt idx="5">
                  <c:v>WBD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10.394617444614125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E2-46CE-AC32-7C17AD5AD39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Peers</c:v>
                </c:pt>
              </c:strCache>
            </c:strRef>
          </c:tx>
          <c:spPr>
            <a:solidFill>
              <a:srgbClr val="8D99A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NFLX</c:v>
                </c:pt>
                <c:pt idx="1">
                  <c:v>CMCSA</c:v>
                </c:pt>
                <c:pt idx="2">
                  <c:v>DIS</c:v>
                </c:pt>
                <c:pt idx="3">
                  <c:v>PSKY</c:v>
                </c:pt>
                <c:pt idx="4">
                  <c:v>SPOT</c:v>
                </c:pt>
                <c:pt idx="5">
                  <c:v>WBD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1.9</c:v>
                </c:pt>
                <c:pt idx="2">
                  <c:v>2.6</c:v>
                </c:pt>
                <c:pt idx="3">
                  <c:v>0.7</c:v>
                </c:pt>
                <c:pt idx="4">
                  <c:v>6.3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8E2-46CE-AC32-7C17AD5AD39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3F3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Value/share</c:v>
                </c:pt>
              </c:strCache>
            </c:strRef>
          </c:tx>
          <c:spPr>
            <a:solidFill>
              <a:srgbClr val="3D5A8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8.5%</c:v>
                </c:pt>
                <c:pt idx="1">
                  <c:v>9.5%</c:v>
                </c:pt>
                <c:pt idx="2">
                  <c:v>10.8%</c:v>
                </c:pt>
                <c:pt idx="3">
                  <c:v>11.5%</c:v>
                </c:pt>
                <c:pt idx="4">
                  <c:v>12.5%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</c:v>
                </c:pt>
                <c:pt idx="1">
                  <c:v>63</c:v>
                </c:pt>
                <c:pt idx="2">
                  <c:v>52</c:v>
                </c:pt>
                <c:pt idx="3">
                  <c:v>48</c:v>
                </c:pt>
                <c:pt idx="4">
                  <c:v>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D6B-481E-BFD0-5F00515FD6D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3F3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Value/share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2.0%</c:v>
                </c:pt>
                <c:pt idx="1">
                  <c:v>2.5%</c:v>
                </c:pt>
                <c:pt idx="2">
                  <c:v>3.0%</c:v>
                </c:pt>
                <c:pt idx="3">
                  <c:v>3.5%</c:v>
                </c:pt>
                <c:pt idx="4">
                  <c:v>4.0%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</c:v>
                </c:pt>
                <c:pt idx="1">
                  <c:v>50</c:v>
                </c:pt>
                <c:pt idx="2">
                  <c:v>52</c:v>
                </c:pt>
                <c:pt idx="3">
                  <c:v>55</c:v>
                </c:pt>
                <c:pt idx="4">
                  <c:v>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AF5-407E-BBC8-D62C9F28C5B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3F3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94884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Initiation-style valuation of Netflix. The framework (Python + SQL + Excel + this deck) is reusable for any company; Netflix is the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BLUF slide. Lead with the range vs price. The honest conclusion is that the stock is priced for the bull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scene: scale + the profitability inflection. Numbers are FY2025 from the shareholder letter.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engines. Emphasise ads + paid sharing as the recent unlocks, and that content is now self-funding.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top line and operating profit roughly doubling. Right: every margin line stepping up; FCF margin going from ~5% to ~21%.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steps. Stress that WACC is essentially the cost of equity because the balance sheet is near all-equity.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centerpiece. Point to the dashed price line: base and comps are far left of it; only bull crosses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Peers are illustrative placeholders — flag that. The point is the size of Netflix's premium, not the precise implied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one-way sensitivities. The takeaway: small WACC changes swing the value a lot, so the discount-rate assumption dominates.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Balanced two-column view. The WBD deal is the single biggest thing deliberately left out of the model — call it out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thesis: quality business, but priced for perfection. State what would change the view (lower price or above-base execution).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Disclosure slide. The reconciliation point (deck = Excel = dashboard = engine) is the credibility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00" userDrawn="1">
          <p15:clr>
            <a:srgbClr val="F26B43"/>
          </p15:clr>
        </p15:guide>
        <p15:guide id="2" orient="horz" pos="55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tfpColumnGapBlocker370524">
            <a:extLst>
              <a:ext uri="{FF2B5EF4-FFF2-40B4-BE49-F238E27FC236}">
                <a16:creationId xmlns:a16="http://schemas.microsoft.com/office/drawing/2014/main" id="{478D1AC9-5390-D994-C31C-34989FCEF877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btfpColumnGapBlocker964994">
            <a:extLst>
              <a:ext uri="{FF2B5EF4-FFF2-40B4-BE49-F238E27FC236}">
                <a16:creationId xmlns:a16="http://schemas.microsoft.com/office/drawing/2014/main" id="{C349BDF5-DBBE-7470-6955-BFE9882EE8DB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btfpColumnIndicator914727">
            <a:extLst>
              <a:ext uri="{FF2B5EF4-FFF2-40B4-BE49-F238E27FC236}">
                <a16:creationId xmlns:a16="http://schemas.microsoft.com/office/drawing/2014/main" id="{0A04D189-450F-2B56-6CE1-134013D627A5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btfpColumnIndicator580151">
            <a:extLst>
              <a:ext uri="{FF2B5EF4-FFF2-40B4-BE49-F238E27FC236}">
                <a16:creationId xmlns:a16="http://schemas.microsoft.com/office/drawing/2014/main" id="{15CFACD4-E9A7-0E9F-4B58-9A8E05303FFF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btfpColumnIndicator368273">
            <a:extLst>
              <a:ext uri="{FF2B5EF4-FFF2-40B4-BE49-F238E27FC236}">
                <a16:creationId xmlns:a16="http://schemas.microsoft.com/office/drawing/2014/main" id="{04DAFDCA-1D3C-BA84-B618-D45E5EEC056E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btfpColumnIndicator994668">
            <a:extLst>
              <a:ext uri="{FF2B5EF4-FFF2-40B4-BE49-F238E27FC236}">
                <a16:creationId xmlns:a16="http://schemas.microsoft.com/office/drawing/2014/main" id="{DF11629B-EE40-E12C-AA70-3BB961654F65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btfpColumnGapBlocker590780">
            <a:extLst>
              <a:ext uri="{FF2B5EF4-FFF2-40B4-BE49-F238E27FC236}">
                <a16:creationId xmlns:a16="http://schemas.microsoft.com/office/drawing/2014/main" id="{82F89691-7D06-D17C-6F7E-84DE8EDC8AFD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btfpColumnIndicator710795">
            <a:extLst>
              <a:ext uri="{FF2B5EF4-FFF2-40B4-BE49-F238E27FC236}">
                <a16:creationId xmlns:a16="http://schemas.microsoft.com/office/drawing/2014/main" id="{2A7E9FE2-1DB7-1E4C-0B97-2021F75800A4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btfpColumnIndicator355519">
            <a:extLst>
              <a:ext uri="{FF2B5EF4-FFF2-40B4-BE49-F238E27FC236}">
                <a16:creationId xmlns:a16="http://schemas.microsoft.com/office/drawing/2014/main" id="{2886250B-6D1E-81CB-AC89-E38B1088EE11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btfpColumnIndicator635792">
            <a:extLst>
              <a:ext uri="{FF2B5EF4-FFF2-40B4-BE49-F238E27FC236}">
                <a16:creationId xmlns:a16="http://schemas.microsoft.com/office/drawing/2014/main" id="{2D2B210F-EAC7-43BA-80FE-46FB48724BCB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btfpColumnIndicator826398">
            <a:extLst>
              <a:ext uri="{FF2B5EF4-FFF2-40B4-BE49-F238E27FC236}">
                <a16:creationId xmlns:a16="http://schemas.microsoft.com/office/drawing/2014/main" id="{8B466785-7B8F-DA1B-D1C5-E4A72228136D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RESEARCH · INITIATION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75564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Netflix, Inc.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58368" y="261518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Valuation</a:t>
            </a:r>
            <a:r>
              <a:rPr lang="en-US" sz="2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(NASDAQ: NFLX)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9C9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+ comparable-company analysis </a:t>
            </a:r>
            <a:r>
              <a:rPr lang="en-US" sz="1250">
                <a:solidFill>
                  <a:srgbClr val="C9C9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Base </a:t>
            </a:r>
            <a:r>
              <a:rPr lang="en-US" sz="1250" dirty="0">
                <a:solidFill>
                  <a:srgbClr val="C9C9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FY2025 · A reusable valuation framework demonstrated on Netflix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58368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Yashdeep Singh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Educational / portfolio analysis — not investment advice</a:t>
            </a:r>
            <a:endParaRPr lang="en-US" sz="1200" dirty="0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btfpColumnGapBlocker886911">
            <a:extLst>
              <a:ext uri="{FF2B5EF4-FFF2-40B4-BE49-F238E27FC236}">
                <a16:creationId xmlns:a16="http://schemas.microsoft.com/office/drawing/2014/main" id="{8D5E5347-A1A5-9B9A-AF35-2C77E703B45C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btfpColumnGapBlocker412223">
            <a:extLst>
              <a:ext uri="{FF2B5EF4-FFF2-40B4-BE49-F238E27FC236}">
                <a16:creationId xmlns:a16="http://schemas.microsoft.com/office/drawing/2014/main" id="{0DEE2B56-EC7E-198B-9C3E-1B10BAF49927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btfpColumnIndicator534802">
            <a:extLst>
              <a:ext uri="{FF2B5EF4-FFF2-40B4-BE49-F238E27FC236}">
                <a16:creationId xmlns:a16="http://schemas.microsoft.com/office/drawing/2014/main" id="{1674273B-244B-48AC-FC53-FB969022B365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btfpColumnIndicator457371">
            <a:extLst>
              <a:ext uri="{FF2B5EF4-FFF2-40B4-BE49-F238E27FC236}">
                <a16:creationId xmlns:a16="http://schemas.microsoft.com/office/drawing/2014/main" id="{8D939D19-D816-92E0-D2EA-088E63D01AC0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btfpColumnIndicator286530">
            <a:extLst>
              <a:ext uri="{FF2B5EF4-FFF2-40B4-BE49-F238E27FC236}">
                <a16:creationId xmlns:a16="http://schemas.microsoft.com/office/drawing/2014/main" id="{5A88A1EE-E9E4-6387-D5C6-6A5539095B3F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btfpColumnIndicator969035">
            <a:extLst>
              <a:ext uri="{FF2B5EF4-FFF2-40B4-BE49-F238E27FC236}">
                <a16:creationId xmlns:a16="http://schemas.microsoft.com/office/drawing/2014/main" id="{43058DFA-A996-BBB3-771F-6AAEAE39E8E8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btfpColumnGapBlocker459705">
            <a:extLst>
              <a:ext uri="{FF2B5EF4-FFF2-40B4-BE49-F238E27FC236}">
                <a16:creationId xmlns:a16="http://schemas.microsoft.com/office/drawing/2014/main" id="{2E5E2B07-76E6-947F-F28A-488F70D77A7B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btfpColumnIndicator996503">
            <a:extLst>
              <a:ext uri="{FF2B5EF4-FFF2-40B4-BE49-F238E27FC236}">
                <a16:creationId xmlns:a16="http://schemas.microsoft.com/office/drawing/2014/main" id="{2407FBDC-9E57-1C75-5E29-68A0607901BC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btfpColumnIndicator918133">
            <a:extLst>
              <a:ext uri="{FF2B5EF4-FFF2-40B4-BE49-F238E27FC236}">
                <a16:creationId xmlns:a16="http://schemas.microsoft.com/office/drawing/2014/main" id="{C49767FF-264F-FDEB-6A96-3690DD4BFE50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btfpColumnIndicator865606">
            <a:extLst>
              <a:ext uri="{FF2B5EF4-FFF2-40B4-BE49-F238E27FC236}">
                <a16:creationId xmlns:a16="http://schemas.microsoft.com/office/drawing/2014/main" id="{E2AE52BA-8B3B-A2DE-1591-E66AE8BE52EA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btfpColumnIndicator626998">
            <a:extLst>
              <a:ext uri="{FF2B5EF4-FFF2-40B4-BE49-F238E27FC236}">
                <a16:creationId xmlns:a16="http://schemas.microsoft.com/office/drawing/2014/main" id="{B8EECCF7-CD6D-2BCD-DB31-4536E0A1FE87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3722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for perfection — limited margin of safety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472184"/>
            <a:ext cx="181051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$110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203454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price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51176" y="1325880"/>
            <a:ext cx="199339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42616" y="1472184"/>
            <a:ext cx="181051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3D5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642616" y="203454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Base-case value/share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36008" y="1325880"/>
            <a:ext cx="199339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472184"/>
            <a:ext cx="181051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$35–$115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4727448" y="203454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range (bear–bull)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29984" y="1325880"/>
            <a:ext cx="1956816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21424" y="1472184"/>
            <a:ext cx="177393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-52%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821424" y="2034540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vs price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74320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take.  </a:t>
            </a: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 is a high-quality, cash-generative franchise — revenue </a:t>
            </a: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$45.2B (+16%)</a:t>
            </a: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operating margin near </a:t>
            </a: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29%</a:t>
            </a: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free cash flow </a:t>
            </a:r>
            <a:r>
              <a:rPr lang="en-US" sz="14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$9.5B</a:t>
            </a: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But at ~$110 the market already prices the bull case: only that scenario brackets the share price, while the base case and the comparable-company read sit well below it. The valuation is demanding and the margin of safety is thin.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B04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$35</a:t>
            </a:r>
            <a:r>
              <a:rPr lang="en-US" sz="1300" b="1" dirty="0">
                <a:solidFill>
                  <a:srgbClr val="8D99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Comps $50</a:t>
            </a:r>
            <a:r>
              <a:rPr lang="en-US" sz="1300" b="1" dirty="0">
                <a:solidFill>
                  <a:srgbClr val="3D5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Base $52</a:t>
            </a:r>
            <a:r>
              <a:rPr lang="en-US" sz="13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Bull $115</a:t>
            </a:r>
            <a:r>
              <a:rPr lang="en-US" sz="13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vs price $110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8508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NFLX · Equity Valuation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508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btfpColumnGapBlocker444461">
            <a:extLst>
              <a:ext uri="{FF2B5EF4-FFF2-40B4-BE49-F238E27FC236}">
                <a16:creationId xmlns:a16="http://schemas.microsoft.com/office/drawing/2014/main" id="{798AE7A2-AC21-54A9-BC12-9F8FE8F8D0DE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btfpColumnGapBlocker212575">
            <a:extLst>
              <a:ext uri="{FF2B5EF4-FFF2-40B4-BE49-F238E27FC236}">
                <a16:creationId xmlns:a16="http://schemas.microsoft.com/office/drawing/2014/main" id="{7CDC61DA-4918-F050-B194-0DC065014872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btfpColumnIndicator798541">
            <a:extLst>
              <a:ext uri="{FF2B5EF4-FFF2-40B4-BE49-F238E27FC236}">
                <a16:creationId xmlns:a16="http://schemas.microsoft.com/office/drawing/2014/main" id="{B0B88F02-7CE7-6EC5-27BB-6058DF91BE71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btfpColumnIndicator678301">
            <a:extLst>
              <a:ext uri="{FF2B5EF4-FFF2-40B4-BE49-F238E27FC236}">
                <a16:creationId xmlns:a16="http://schemas.microsoft.com/office/drawing/2014/main" id="{2C5FECDB-9765-85CD-D1C0-6BA3DE9BADD4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btfpColumnIndicator552695">
            <a:extLst>
              <a:ext uri="{FF2B5EF4-FFF2-40B4-BE49-F238E27FC236}">
                <a16:creationId xmlns:a16="http://schemas.microsoft.com/office/drawing/2014/main" id="{455B046A-C9A2-104D-B066-E4268E9DEE58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btfpColumnIndicator751343">
            <a:extLst>
              <a:ext uri="{FF2B5EF4-FFF2-40B4-BE49-F238E27FC236}">
                <a16:creationId xmlns:a16="http://schemas.microsoft.com/office/drawing/2014/main" id="{80408291-AC2D-CA70-25C4-737FE32071B4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btfpColumnGapBlocker804394">
            <a:extLst>
              <a:ext uri="{FF2B5EF4-FFF2-40B4-BE49-F238E27FC236}">
                <a16:creationId xmlns:a16="http://schemas.microsoft.com/office/drawing/2014/main" id="{1C09AB75-16DE-485B-409B-48EC2CBEF354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btfpColumnIndicator110738">
            <a:extLst>
              <a:ext uri="{FF2B5EF4-FFF2-40B4-BE49-F238E27FC236}">
                <a16:creationId xmlns:a16="http://schemas.microsoft.com/office/drawing/2014/main" id="{1FA4F34D-419B-A356-0D18-98F7C092B3B3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btfpColumnIndicator165990">
            <a:extLst>
              <a:ext uri="{FF2B5EF4-FFF2-40B4-BE49-F238E27FC236}">
                <a16:creationId xmlns:a16="http://schemas.microsoft.com/office/drawing/2014/main" id="{A54FB5C5-F284-5856-9F84-AC7C5FF74FD8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btfpColumnIndicator458060">
            <a:extLst>
              <a:ext uri="{FF2B5EF4-FFF2-40B4-BE49-F238E27FC236}">
                <a16:creationId xmlns:a16="http://schemas.microsoft.com/office/drawing/2014/main" id="{7C743182-C8E9-A19F-325A-89DB4F713106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btfpColumnIndicator291238">
            <a:extLst>
              <a:ext uri="{FF2B5EF4-FFF2-40B4-BE49-F238E27FC236}">
                <a16:creationId xmlns:a16="http://schemas.microsoft.com/office/drawing/2014/main" id="{086AC587-0228-12F5-FAA2-2498368C4C36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3722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streaming at scale, now firmly profitable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70432" y="1554480"/>
            <a:ext cx="530352" cy="530352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8324" y="1692372"/>
            <a:ext cx="254569" cy="2545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212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$45.2B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548640" y="2596896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FY2025 revenue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48640" y="280720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+16% year over year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569464" y="137160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82696" y="1554480"/>
            <a:ext cx="530352" cy="530352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0588" y="169237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60904" y="2212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~325M</a:t>
            </a:r>
            <a:endParaRPr lang="en-US" sz="2300" dirty="0"/>
          </a:p>
        </p:txBody>
      </p:sp>
      <p:sp>
        <p:nvSpPr>
          <p:cNvPr id="14" name="Text 10"/>
          <p:cNvSpPr/>
          <p:nvPr/>
        </p:nvSpPr>
        <p:spPr>
          <a:xfrm>
            <a:off x="2660904" y="2596896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memberships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2660904" y="280720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+23M net adds in FY2025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681728" y="137160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394960" y="1554480"/>
            <a:ext cx="530352" cy="530352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852" y="1692372"/>
            <a:ext cx="254569" cy="25456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773168" y="2212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29%</a:t>
            </a:r>
            <a:endParaRPr lang="en-US" sz="2300" dirty="0"/>
          </a:p>
        </p:txBody>
      </p:sp>
      <p:sp>
        <p:nvSpPr>
          <p:cNvPr id="20" name="Text 15"/>
          <p:cNvSpPr/>
          <p:nvPr/>
        </p:nvSpPr>
        <p:spPr>
          <a:xfrm>
            <a:off x="4773168" y="2596896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margin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4773168" y="280720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from ~18% in FY2022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793992" y="1371600"/>
            <a:ext cx="1965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7507224" y="1554480"/>
            <a:ext cx="530352" cy="530352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5116" y="1692372"/>
            <a:ext cx="254569" cy="25456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85432" y="2212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$9.5B</a:t>
            </a:r>
            <a:endParaRPr lang="en-US" sz="2300" dirty="0"/>
          </a:p>
        </p:txBody>
      </p:sp>
      <p:sp>
        <p:nvSpPr>
          <p:cNvPr id="26" name="Text 20"/>
          <p:cNvSpPr/>
          <p:nvPr/>
        </p:nvSpPr>
        <p:spPr>
          <a:xfrm>
            <a:off x="6885432" y="2596896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cash flow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885432" y="280720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~$1.6B in FY2022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457200" y="33375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 is the largest paid streaming service worldwide, monetising one content library across ~190 countries. Three shifts reshaped the model since 2022: paid sharing converted freeloaders into subscribers, a lower-priced ad tier opened a second revenue stream (&gt;$1.5B in FY2025), and operating discipline turned years of content cash burn into substantial free cash flow.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457200" y="48508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NFLX · Equity Valuation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8229600" y="48508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btfpColumnGapBlocker177154">
            <a:extLst>
              <a:ext uri="{FF2B5EF4-FFF2-40B4-BE49-F238E27FC236}">
                <a16:creationId xmlns:a16="http://schemas.microsoft.com/office/drawing/2014/main" id="{42F48A25-9B18-DBB3-A08D-2530A3F7A250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btfpColumnGapBlocker679347">
            <a:extLst>
              <a:ext uri="{FF2B5EF4-FFF2-40B4-BE49-F238E27FC236}">
                <a16:creationId xmlns:a16="http://schemas.microsoft.com/office/drawing/2014/main" id="{717A7359-92C3-1C53-D890-303D92E851FC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btfpColumnIndicator344595">
            <a:extLst>
              <a:ext uri="{FF2B5EF4-FFF2-40B4-BE49-F238E27FC236}">
                <a16:creationId xmlns:a16="http://schemas.microsoft.com/office/drawing/2014/main" id="{5683AF87-E5C0-81EE-47CD-C49F02FA9E51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btfpColumnIndicator188630">
            <a:extLst>
              <a:ext uri="{FF2B5EF4-FFF2-40B4-BE49-F238E27FC236}">
                <a16:creationId xmlns:a16="http://schemas.microsoft.com/office/drawing/2014/main" id="{1C77B63E-32C3-CD9C-A985-3D52DF26ADE6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btfpColumnIndicator361344">
            <a:extLst>
              <a:ext uri="{FF2B5EF4-FFF2-40B4-BE49-F238E27FC236}">
                <a16:creationId xmlns:a16="http://schemas.microsoft.com/office/drawing/2014/main" id="{A89EAA05-EF1A-0724-2F82-6DE2491D9D6C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btfpColumnIndicator702631">
            <a:extLst>
              <a:ext uri="{FF2B5EF4-FFF2-40B4-BE49-F238E27FC236}">
                <a16:creationId xmlns:a16="http://schemas.microsoft.com/office/drawing/2014/main" id="{7F00AD31-ADE9-9509-C93E-EE0EABBBF300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btfpColumnGapBlocker262432">
            <a:extLst>
              <a:ext uri="{FF2B5EF4-FFF2-40B4-BE49-F238E27FC236}">
                <a16:creationId xmlns:a16="http://schemas.microsoft.com/office/drawing/2014/main" id="{009546EC-2297-426A-94B3-58E924E0070B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btfpColumnIndicator502811">
            <a:extLst>
              <a:ext uri="{FF2B5EF4-FFF2-40B4-BE49-F238E27FC236}">
                <a16:creationId xmlns:a16="http://schemas.microsoft.com/office/drawing/2014/main" id="{916788F3-A684-D91D-C8CF-538BC3F29A2C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btfpColumnIndicator876338">
            <a:extLst>
              <a:ext uri="{FF2B5EF4-FFF2-40B4-BE49-F238E27FC236}">
                <a16:creationId xmlns:a16="http://schemas.microsoft.com/office/drawing/2014/main" id="{AE7F1724-82F7-0359-8A6C-5A22AFBC8064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btfpColumnIndicator845973">
            <a:extLst>
              <a:ext uri="{FF2B5EF4-FFF2-40B4-BE49-F238E27FC236}">
                <a16:creationId xmlns:a16="http://schemas.microsoft.com/office/drawing/2014/main" id="{28776EB1-E98F-7083-5290-35E2BA616F4C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btfpColumnIndicator333868">
            <a:extLst>
              <a:ext uri="{FF2B5EF4-FFF2-40B4-BE49-F238E27FC236}">
                <a16:creationId xmlns:a16="http://schemas.microsoft.com/office/drawing/2014/main" id="{32E78CD5-2F30-D267-6EC4-2E0F504FA2CF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drives the numbers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66928" cy="566928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321" y="151900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Subscriptions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280160" y="166420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revenue across tiers; pricing power demonstrated through repeated increases with low churn.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2221992"/>
            <a:ext cx="566928" cy="566928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321" y="2369393"/>
            <a:ext cx="272125" cy="272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220370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280160" y="2514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Lower-priced ad tier scaling fast (&gt;$1.5B FY2025) — a higher-margin, still-early revenue line.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3072384"/>
            <a:ext cx="566928" cy="566928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21" y="3219785"/>
            <a:ext cx="272125" cy="272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305409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sharing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280160" y="33649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Crackdown on password sharing converted non-paying viewers into ~325M paying memberships.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922776"/>
            <a:ext cx="566928" cy="566928"/>
          </a:xfrm>
          <a:prstGeom prst="ellipse">
            <a:avLst/>
          </a:prstGeom>
          <a:solidFill>
            <a:srgbClr val="E5091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321" y="4070177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904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engine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1280160" y="421538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slate plus live events and games; spend is increasingly funded from operating cash flow.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457200" y="48508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NFLX · Equity Valuation</a:t>
            </a:r>
            <a:endParaRPr lang="en-US" sz="800" dirty="0"/>
          </a:p>
        </p:txBody>
      </p:sp>
      <p:sp>
        <p:nvSpPr>
          <p:cNvPr id="21" name="Text 15"/>
          <p:cNvSpPr/>
          <p:nvPr/>
        </p:nvSpPr>
        <p:spPr>
          <a:xfrm>
            <a:off x="8229600" y="48508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btfpColumnGapBlocker514920">
            <a:extLst>
              <a:ext uri="{FF2B5EF4-FFF2-40B4-BE49-F238E27FC236}">
                <a16:creationId xmlns:a16="http://schemas.microsoft.com/office/drawing/2014/main" id="{A7908A0D-57E2-B414-F862-3EC4B04A5050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btfpColumnGapBlocker878493">
            <a:extLst>
              <a:ext uri="{FF2B5EF4-FFF2-40B4-BE49-F238E27FC236}">
                <a16:creationId xmlns:a16="http://schemas.microsoft.com/office/drawing/2014/main" id="{793760DD-7EA8-8C18-778B-D5F277DF63D9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btfpColumnIndicator155388">
            <a:extLst>
              <a:ext uri="{FF2B5EF4-FFF2-40B4-BE49-F238E27FC236}">
                <a16:creationId xmlns:a16="http://schemas.microsoft.com/office/drawing/2014/main" id="{56E92215-B145-2CC6-3EDA-67CC78597643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btfpColumnIndicator519597">
            <a:extLst>
              <a:ext uri="{FF2B5EF4-FFF2-40B4-BE49-F238E27FC236}">
                <a16:creationId xmlns:a16="http://schemas.microsoft.com/office/drawing/2014/main" id="{E5914D1E-10C3-B061-7B99-44012C2FEE60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btfpColumnIndicator826675">
            <a:extLst>
              <a:ext uri="{FF2B5EF4-FFF2-40B4-BE49-F238E27FC236}">
                <a16:creationId xmlns:a16="http://schemas.microsoft.com/office/drawing/2014/main" id="{4A3DB0B0-DD8A-5DF7-0B06-F6CF1DDBC042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btfpColumnIndicator815081">
            <a:extLst>
              <a:ext uri="{FF2B5EF4-FFF2-40B4-BE49-F238E27FC236}">
                <a16:creationId xmlns:a16="http://schemas.microsoft.com/office/drawing/2014/main" id="{CB333F1A-672E-220C-38FB-4C43EE7E96A3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btfpColumnGapBlocker667724">
            <a:extLst>
              <a:ext uri="{FF2B5EF4-FFF2-40B4-BE49-F238E27FC236}">
                <a16:creationId xmlns:a16="http://schemas.microsoft.com/office/drawing/2014/main" id="{30037E6E-7BC9-C2BB-F6F1-B1586654A8F7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btfpColumnIndicator801178">
            <a:extLst>
              <a:ext uri="{FF2B5EF4-FFF2-40B4-BE49-F238E27FC236}">
                <a16:creationId xmlns:a16="http://schemas.microsoft.com/office/drawing/2014/main" id="{D7787B40-876C-AE66-539B-B7F4859DBEB2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btfpColumnIndicator635350">
            <a:extLst>
              <a:ext uri="{FF2B5EF4-FFF2-40B4-BE49-F238E27FC236}">
                <a16:creationId xmlns:a16="http://schemas.microsoft.com/office/drawing/2014/main" id="{DA916ADA-F783-A50F-6DD2-8682E0705A28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btfpColumnIndicator450325">
            <a:extLst>
              <a:ext uri="{FF2B5EF4-FFF2-40B4-BE49-F238E27FC236}">
                <a16:creationId xmlns:a16="http://schemas.microsoft.com/office/drawing/2014/main" id="{97B98F8F-BF46-2161-0A90-D1A1A2A605E5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btfpColumnIndicator819786">
            <a:extLst>
              <a:ext uri="{FF2B5EF4-FFF2-40B4-BE49-F238E27FC236}">
                <a16:creationId xmlns:a16="http://schemas.microsoft.com/office/drawing/2014/main" id="{834B9907-5AD1-92A9-B404-36EA036F6382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199" y="566928"/>
            <a:ext cx="86209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Growth, margin expansion &amp; cash-flow inflection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operating income ($B)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554480"/>
          <a:ext cx="429768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Margins (% of revenue)</a:t>
            </a:r>
            <a:endParaRPr lang="en-US" sz="125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4663440" y="1554480"/>
          <a:ext cx="420624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48508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NFLX · Equity Valuation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8229600" y="48508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btfpColumnGapBlocker489120">
            <a:extLst>
              <a:ext uri="{FF2B5EF4-FFF2-40B4-BE49-F238E27FC236}">
                <a16:creationId xmlns:a16="http://schemas.microsoft.com/office/drawing/2014/main" id="{782E8B32-E761-011C-516C-1E83D3B586D3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btfpColumnGapBlocker835041">
            <a:extLst>
              <a:ext uri="{FF2B5EF4-FFF2-40B4-BE49-F238E27FC236}">
                <a16:creationId xmlns:a16="http://schemas.microsoft.com/office/drawing/2014/main" id="{7EDC95A6-22C4-A1DF-C309-C0374D851AAE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btfpColumnIndicator814193">
            <a:extLst>
              <a:ext uri="{FF2B5EF4-FFF2-40B4-BE49-F238E27FC236}">
                <a16:creationId xmlns:a16="http://schemas.microsoft.com/office/drawing/2014/main" id="{C5D5D080-D5B9-FE58-B4D6-1FEE38062F03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btfpColumnIndicator166205">
            <a:extLst>
              <a:ext uri="{FF2B5EF4-FFF2-40B4-BE49-F238E27FC236}">
                <a16:creationId xmlns:a16="http://schemas.microsoft.com/office/drawing/2014/main" id="{9DF2E538-B71B-CCC8-0127-7DCCC20AC9AC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btfpColumnIndicator129019">
            <a:extLst>
              <a:ext uri="{FF2B5EF4-FFF2-40B4-BE49-F238E27FC236}">
                <a16:creationId xmlns:a16="http://schemas.microsoft.com/office/drawing/2014/main" id="{6599BE4B-1438-80E1-5A6B-CE3444A90A05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btfpColumnIndicator573858">
            <a:extLst>
              <a:ext uri="{FF2B5EF4-FFF2-40B4-BE49-F238E27FC236}">
                <a16:creationId xmlns:a16="http://schemas.microsoft.com/office/drawing/2014/main" id="{A2D4B930-54F2-35A7-2208-579F640CB13B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btfpColumnGapBlocker341126">
            <a:extLst>
              <a:ext uri="{FF2B5EF4-FFF2-40B4-BE49-F238E27FC236}">
                <a16:creationId xmlns:a16="http://schemas.microsoft.com/office/drawing/2014/main" id="{184C54F9-13CF-1FBF-3BCC-C1456E0756E4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btfpColumnIndicator142998">
            <a:extLst>
              <a:ext uri="{FF2B5EF4-FFF2-40B4-BE49-F238E27FC236}">
                <a16:creationId xmlns:a16="http://schemas.microsoft.com/office/drawing/2014/main" id="{F68D95BA-2A6D-B6C4-EC65-0FAEB5AB9AE8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btfpColumnIndicator685820">
            <a:extLst>
              <a:ext uri="{FF2B5EF4-FFF2-40B4-BE49-F238E27FC236}">
                <a16:creationId xmlns:a16="http://schemas.microsoft.com/office/drawing/2014/main" id="{5C900F53-E752-C71D-40E4-C3BB4A69B671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btfpColumnIndicator402581">
            <a:extLst>
              <a:ext uri="{FF2B5EF4-FFF2-40B4-BE49-F238E27FC236}">
                <a16:creationId xmlns:a16="http://schemas.microsoft.com/office/drawing/2014/main" id="{A2A50A60-9EA3-C12B-8AA3-3A025C2FD343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btfpColumnIndicator793676">
            <a:extLst>
              <a:ext uri="{FF2B5EF4-FFF2-40B4-BE49-F238E27FC236}">
                <a16:creationId xmlns:a16="http://schemas.microsoft.com/office/drawing/2014/main" id="{B1524256-5BC4-A587-032C-C468B037553E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intrinsic value is built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84048" cy="384048"/>
          </a:xfrm>
          <a:prstGeom prst="ellipse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3898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35331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free cash flow  —  </a:t>
            </a: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Five-year revenue forecast × an FCF-margin path (cleaner than a textbook build-up for content-heavy businesses).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938528"/>
            <a:ext cx="384048" cy="384048"/>
          </a:xfrm>
          <a:prstGeom prst="ellipse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95681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1920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at WACC  —  </a:t>
            </a: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CAPM cost of capital, mid-year convention. Netflix is ~99% equity-funded, so WACC sits just under the cost of equity.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505456"/>
            <a:ext cx="384048" cy="384048"/>
          </a:xfrm>
          <a:prstGeom prst="ellipse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52374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248716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terminal value  —  </a:t>
            </a: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Gordon-growth perpetuity on the final-year cash flow; terminal value is ~74% of enterprise value.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072384"/>
            <a:ext cx="384048" cy="384048"/>
          </a:xfrm>
          <a:prstGeom prst="ellipse">
            <a:avLst/>
          </a:prstGeom>
          <a:solidFill>
            <a:srgbClr val="14141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309067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51560" y="305409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to per share  —  </a:t>
            </a: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value less net debt ($5.5B), divided by ~4.2bn shares.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1371600"/>
            <a:ext cx="2423160" cy="2286000"/>
          </a:xfrm>
          <a:prstGeom prst="roundRect">
            <a:avLst>
              <a:gd name="adj" fmla="val 3200"/>
            </a:avLst>
          </a:prstGeom>
          <a:solidFill>
            <a:srgbClr val="F3F3F3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63640" y="148132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WACC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63640" y="17556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10.8%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400800" y="2395728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equity</a:t>
            </a:r>
            <a:endParaRPr lang="en-US" sz="11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10.9%  (β 1.20)</a:t>
            </a:r>
            <a:endParaRPr lang="en-US" sz="11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After-tax cost of debt</a:t>
            </a:r>
            <a:endParaRPr lang="en-US" sz="11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11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weight</a:t>
            </a:r>
            <a:endParaRPr lang="en-US" sz="11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98.8%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mirrors the repo's Python engine and Excel model — all three reconcile to the same per-share values.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8508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NFLX · Equity Valuation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229600" y="48508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btfpColumnGapBlocker671467">
            <a:extLst>
              <a:ext uri="{FF2B5EF4-FFF2-40B4-BE49-F238E27FC236}">
                <a16:creationId xmlns:a16="http://schemas.microsoft.com/office/drawing/2014/main" id="{606F8678-91B2-CAC9-44D2-EC0E69CB31F4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btfpColumnGapBlocker823220">
            <a:extLst>
              <a:ext uri="{FF2B5EF4-FFF2-40B4-BE49-F238E27FC236}">
                <a16:creationId xmlns:a16="http://schemas.microsoft.com/office/drawing/2014/main" id="{11E61853-50EF-A321-DE13-0281665AA715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btfpColumnIndicator716339">
            <a:extLst>
              <a:ext uri="{FF2B5EF4-FFF2-40B4-BE49-F238E27FC236}">
                <a16:creationId xmlns:a16="http://schemas.microsoft.com/office/drawing/2014/main" id="{E8FCBDE3-7AEB-895F-E84D-9FCC1A39857A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btfpColumnIndicator991882">
            <a:extLst>
              <a:ext uri="{FF2B5EF4-FFF2-40B4-BE49-F238E27FC236}">
                <a16:creationId xmlns:a16="http://schemas.microsoft.com/office/drawing/2014/main" id="{EB1535F4-D747-CBB9-E9B5-E108B6F91748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btfpColumnIndicator259499">
            <a:extLst>
              <a:ext uri="{FF2B5EF4-FFF2-40B4-BE49-F238E27FC236}">
                <a16:creationId xmlns:a16="http://schemas.microsoft.com/office/drawing/2014/main" id="{16C5386B-529E-8A4A-4FB9-6774A2C56043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btfpColumnIndicator612868">
            <a:extLst>
              <a:ext uri="{FF2B5EF4-FFF2-40B4-BE49-F238E27FC236}">
                <a16:creationId xmlns:a16="http://schemas.microsoft.com/office/drawing/2014/main" id="{F98EF633-C3B9-9693-F574-8E3E708F20C2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btfpColumnGapBlocker242758">
            <a:extLst>
              <a:ext uri="{FF2B5EF4-FFF2-40B4-BE49-F238E27FC236}">
                <a16:creationId xmlns:a16="http://schemas.microsoft.com/office/drawing/2014/main" id="{7B3B598B-BD6C-13C4-B261-FF661810DD56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btfpColumnIndicator763129">
            <a:extLst>
              <a:ext uri="{FF2B5EF4-FFF2-40B4-BE49-F238E27FC236}">
                <a16:creationId xmlns:a16="http://schemas.microsoft.com/office/drawing/2014/main" id="{C5A93E9A-6CF0-8BCD-216D-FBE3C19F379E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btfpColumnIndicator974912">
            <a:extLst>
              <a:ext uri="{FF2B5EF4-FFF2-40B4-BE49-F238E27FC236}">
                <a16:creationId xmlns:a16="http://schemas.microsoft.com/office/drawing/2014/main" id="{EF5F950E-F3B5-9438-E394-ED54D5A2F85B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btfpColumnIndicator728940">
            <a:extLst>
              <a:ext uri="{FF2B5EF4-FFF2-40B4-BE49-F238E27FC236}">
                <a16:creationId xmlns:a16="http://schemas.microsoft.com/office/drawing/2014/main" id="{23125AE5-B073-58F7-2CD3-269889FB2068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btfpColumnIndicator483251">
            <a:extLst>
              <a:ext uri="{FF2B5EF4-FFF2-40B4-BE49-F238E27FC236}">
                <a16:creationId xmlns:a16="http://schemas.microsoft.com/office/drawing/2014/main" id="{CC56A289-D457-167E-26C3-155278EE5363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range vs. the market price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691640" y="396849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948940" y="396849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206240" y="396849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63540" y="396849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720840" y="396849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978140" y="3968496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490472"/>
            <a:ext cx="0" cy="2368296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56362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B04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65960" y="1600200"/>
            <a:ext cx="1772022" cy="365760"/>
          </a:xfrm>
          <a:prstGeom prst="roundRect">
            <a:avLst>
              <a:gd name="adj" fmla="val 10000"/>
            </a:avLst>
          </a:prstGeom>
          <a:solidFill>
            <a:srgbClr val="B046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11134" y="16002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04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$35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216712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8D99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65960" y="2203704"/>
            <a:ext cx="2507377" cy="365760"/>
          </a:xfrm>
          <a:prstGeom prst="roundRect">
            <a:avLst>
              <a:gd name="adj" fmla="val 10000"/>
            </a:avLst>
          </a:pr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46489" y="22037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D99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277063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D5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965960" y="2807208"/>
            <a:ext cx="2632830" cy="365760"/>
          </a:xfrm>
          <a:prstGeom prst="roundRect">
            <a:avLst>
              <a:gd name="adj" fmla="val 10000"/>
            </a:avLst>
          </a:prstGeom>
          <a:solidFill>
            <a:srgbClr val="3D5A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71942" y="28072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D5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337413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965960" y="3410712"/>
            <a:ext cx="5794575" cy="36576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833687" y="34107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$115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498080" y="1399032"/>
            <a:ext cx="0" cy="2459736"/>
          </a:xfrm>
          <a:prstGeom prst="line">
            <a:avLst/>
          </a:prstGeom>
          <a:noFill/>
          <a:ln w="22225">
            <a:solidFill>
              <a:srgbClr val="E5091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20840" y="11430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$110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1605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bull case clears the share price. </a:t>
            </a:r>
            <a:r>
              <a:rPr lang="en-US" sz="12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 DCF ($226.4B EV) and the peer-multiple read both land roughly 50% below today's price — the market is paying for sustained high-teens growth, low-30s FCF margins and a lower cost of capital, all at once.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48508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NFLX · Equity Valuation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508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tfpColumnGapBlocker183299">
            <a:extLst>
              <a:ext uri="{FF2B5EF4-FFF2-40B4-BE49-F238E27FC236}">
                <a16:creationId xmlns:a16="http://schemas.microsoft.com/office/drawing/2014/main" id="{7AFBA1C7-E540-B295-9403-772129EE98B6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btfpColumnGapBlocker134417">
            <a:extLst>
              <a:ext uri="{FF2B5EF4-FFF2-40B4-BE49-F238E27FC236}">
                <a16:creationId xmlns:a16="http://schemas.microsoft.com/office/drawing/2014/main" id="{CD5C3FF7-66B1-43DA-E6DB-EBE92AB3675A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btfpColumnIndicator293413">
            <a:extLst>
              <a:ext uri="{FF2B5EF4-FFF2-40B4-BE49-F238E27FC236}">
                <a16:creationId xmlns:a16="http://schemas.microsoft.com/office/drawing/2014/main" id="{59C22FB5-8102-A1CB-4297-5F3BE2399BD2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btfpColumnIndicator614426">
            <a:extLst>
              <a:ext uri="{FF2B5EF4-FFF2-40B4-BE49-F238E27FC236}">
                <a16:creationId xmlns:a16="http://schemas.microsoft.com/office/drawing/2014/main" id="{D4A9D509-F2BA-4FA2-3B24-346498FDEB41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btfpColumnIndicator589290">
            <a:extLst>
              <a:ext uri="{FF2B5EF4-FFF2-40B4-BE49-F238E27FC236}">
                <a16:creationId xmlns:a16="http://schemas.microsoft.com/office/drawing/2014/main" id="{5079C5A7-C161-7F79-AA7F-4D3F4A229486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btfpColumnIndicator894106">
            <a:extLst>
              <a:ext uri="{FF2B5EF4-FFF2-40B4-BE49-F238E27FC236}">
                <a16:creationId xmlns:a16="http://schemas.microsoft.com/office/drawing/2014/main" id="{24E07D0F-9A5B-B3A5-9353-318E4E3BECD5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btfpColumnGapBlocker122903">
            <a:extLst>
              <a:ext uri="{FF2B5EF4-FFF2-40B4-BE49-F238E27FC236}">
                <a16:creationId xmlns:a16="http://schemas.microsoft.com/office/drawing/2014/main" id="{E9C4D3A2-FC35-A1D3-53B5-F13A4EA9E8B1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btfpColumnIndicator103754">
            <a:extLst>
              <a:ext uri="{FF2B5EF4-FFF2-40B4-BE49-F238E27FC236}">
                <a16:creationId xmlns:a16="http://schemas.microsoft.com/office/drawing/2014/main" id="{FAFCB834-5147-F5DC-47DE-A03CB3A773E1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btfpColumnIndicator405713">
            <a:extLst>
              <a:ext uri="{FF2B5EF4-FFF2-40B4-BE49-F238E27FC236}">
                <a16:creationId xmlns:a16="http://schemas.microsoft.com/office/drawing/2014/main" id="{AC79C208-CEAD-45B2-39EB-9FB9F1BDBAE6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btfpColumnIndicator526482">
            <a:extLst>
              <a:ext uri="{FF2B5EF4-FFF2-40B4-BE49-F238E27FC236}">
                <a16:creationId xmlns:a16="http://schemas.microsoft.com/office/drawing/2014/main" id="{028F7A59-0926-5329-FAF7-60FC263FEA4F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btfpColumnIndicator656371">
            <a:extLst>
              <a:ext uri="{FF2B5EF4-FFF2-40B4-BE49-F238E27FC236}">
                <a16:creationId xmlns:a16="http://schemas.microsoft.com/office/drawing/2014/main" id="{CCD84E72-BC65-2DFC-2F95-554FBC5CA372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COMPARABLE COMPANIES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steep premium to legacy media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663440" cy="2487168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Company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EV/Sales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EV/EBITDA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EV/EBIT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P/E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NFLX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09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7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15.8x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7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35.2x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7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42.3x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CMCSA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33.6x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PSKY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66.8x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75.7x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92.3x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WBD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median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/ Sales</a:t>
            </a:r>
            <a:endParaRPr lang="en-US" sz="12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349240" y="1600200"/>
          <a:ext cx="33375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 trades around 10× sales and 42× earnings versus a peer median near 2× — justified only by superior growth and margins. Applying peer medians to Netflix implies ~$50/share.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457200" y="48508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NFLX · Equity Valuation</a:t>
            </a:r>
            <a:endParaRPr lang="en-US" sz="800" dirty="0"/>
          </a:p>
        </p:txBody>
      </p:sp>
      <p:sp>
        <p:nvSpPr>
          <p:cNvPr id="4" name="Text 5"/>
          <p:cNvSpPr/>
          <p:nvPr/>
        </p:nvSpPr>
        <p:spPr>
          <a:xfrm>
            <a:off x="8229600" y="48508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btfpColumnGapBlocker775116">
            <a:extLst>
              <a:ext uri="{FF2B5EF4-FFF2-40B4-BE49-F238E27FC236}">
                <a16:creationId xmlns:a16="http://schemas.microsoft.com/office/drawing/2014/main" id="{60827CF6-C944-06A2-F20B-641C15CED639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btfpColumnGapBlocker773132">
            <a:extLst>
              <a:ext uri="{FF2B5EF4-FFF2-40B4-BE49-F238E27FC236}">
                <a16:creationId xmlns:a16="http://schemas.microsoft.com/office/drawing/2014/main" id="{8E0AEA82-CCDD-2B9E-9884-6772FF7DB76D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btfpColumnIndicator709813">
            <a:extLst>
              <a:ext uri="{FF2B5EF4-FFF2-40B4-BE49-F238E27FC236}">
                <a16:creationId xmlns:a16="http://schemas.microsoft.com/office/drawing/2014/main" id="{1AD76744-1761-BEFA-AD2D-0448E6B1AB7B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btfpColumnIndicator636069">
            <a:extLst>
              <a:ext uri="{FF2B5EF4-FFF2-40B4-BE49-F238E27FC236}">
                <a16:creationId xmlns:a16="http://schemas.microsoft.com/office/drawing/2014/main" id="{21BB4641-1C19-4A8E-CD15-B240E659D48F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btfpColumnIndicator470834">
            <a:extLst>
              <a:ext uri="{FF2B5EF4-FFF2-40B4-BE49-F238E27FC236}">
                <a16:creationId xmlns:a16="http://schemas.microsoft.com/office/drawing/2014/main" id="{9C586BE6-BDF4-3740-BCBD-317A2B41D03C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btfpColumnIndicator566865">
            <a:extLst>
              <a:ext uri="{FF2B5EF4-FFF2-40B4-BE49-F238E27FC236}">
                <a16:creationId xmlns:a16="http://schemas.microsoft.com/office/drawing/2014/main" id="{B039095F-00B7-CDBD-AA62-D2C82D8276CB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btfpColumnGapBlocker880909">
            <a:extLst>
              <a:ext uri="{FF2B5EF4-FFF2-40B4-BE49-F238E27FC236}">
                <a16:creationId xmlns:a16="http://schemas.microsoft.com/office/drawing/2014/main" id="{DE9474FC-EC33-9863-E31A-21DEA13AE2FB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btfpColumnIndicator397657">
            <a:extLst>
              <a:ext uri="{FF2B5EF4-FFF2-40B4-BE49-F238E27FC236}">
                <a16:creationId xmlns:a16="http://schemas.microsoft.com/office/drawing/2014/main" id="{17C04B5B-CC3D-7BB4-D3A4-D287D64BE839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btfpColumnIndicator135702">
            <a:extLst>
              <a:ext uri="{FF2B5EF4-FFF2-40B4-BE49-F238E27FC236}">
                <a16:creationId xmlns:a16="http://schemas.microsoft.com/office/drawing/2014/main" id="{073C8AA3-ABFD-38CE-921C-596CA46A54FD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btfpColumnIndicator277693">
            <a:extLst>
              <a:ext uri="{FF2B5EF4-FFF2-40B4-BE49-F238E27FC236}">
                <a16:creationId xmlns:a16="http://schemas.microsoft.com/office/drawing/2014/main" id="{93C8EE74-FA61-AB2C-E9F7-2D860D9EE9D5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btfpColumnIndicator853056">
            <a:extLst>
              <a:ext uri="{FF2B5EF4-FFF2-40B4-BE49-F238E27FC236}">
                <a16:creationId xmlns:a16="http://schemas.microsoft.com/office/drawing/2014/main" id="{71E45A1D-31CE-D1DA-FCE2-8F7C2B1DD444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rate is the single biggest lever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Value/share vs. WACC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554480"/>
          <a:ext cx="42976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1280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Value/share vs. terminal growth</a:t>
            </a:r>
            <a:endParaRPr lang="en-US" sz="125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4663440" y="1554480"/>
          <a:ext cx="42976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levers are powerful in a terminal-value-heavy DCF. </a:t>
            </a: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WACC from ~10.8% toward 8.5% nearly doubles the value — which is exactly why the bull case (lower cost of capital + faster growth) is the only one that reaches today's price.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57200" y="48508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NFLX · Equity Valuation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508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btfpColumnGapBlocker667767">
            <a:extLst>
              <a:ext uri="{FF2B5EF4-FFF2-40B4-BE49-F238E27FC236}">
                <a16:creationId xmlns:a16="http://schemas.microsoft.com/office/drawing/2014/main" id="{11648269-56F5-A7C3-1B7F-4E1CCC0B6237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btfpColumnGapBlocker970827">
            <a:extLst>
              <a:ext uri="{FF2B5EF4-FFF2-40B4-BE49-F238E27FC236}">
                <a16:creationId xmlns:a16="http://schemas.microsoft.com/office/drawing/2014/main" id="{F97823EE-F0FD-E9D2-3EAA-DE172F04F1C8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btfpColumnIndicator753659">
            <a:extLst>
              <a:ext uri="{FF2B5EF4-FFF2-40B4-BE49-F238E27FC236}">
                <a16:creationId xmlns:a16="http://schemas.microsoft.com/office/drawing/2014/main" id="{3F75BACA-34B3-A28F-9FC3-B5FDD66E2DA5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btfpColumnIndicator867084">
            <a:extLst>
              <a:ext uri="{FF2B5EF4-FFF2-40B4-BE49-F238E27FC236}">
                <a16:creationId xmlns:a16="http://schemas.microsoft.com/office/drawing/2014/main" id="{DEC7838E-3831-0F03-600A-0B0E9518A020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btfpColumnIndicator649619">
            <a:extLst>
              <a:ext uri="{FF2B5EF4-FFF2-40B4-BE49-F238E27FC236}">
                <a16:creationId xmlns:a16="http://schemas.microsoft.com/office/drawing/2014/main" id="{D2ECE0DE-2E0C-1FDA-5CC2-ED9A3653D2C0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btfpColumnIndicator607127">
            <a:extLst>
              <a:ext uri="{FF2B5EF4-FFF2-40B4-BE49-F238E27FC236}">
                <a16:creationId xmlns:a16="http://schemas.microsoft.com/office/drawing/2014/main" id="{B477F2D1-4C63-6E55-814F-7D979DD233F4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btfpColumnGapBlocker164541">
            <a:extLst>
              <a:ext uri="{FF2B5EF4-FFF2-40B4-BE49-F238E27FC236}">
                <a16:creationId xmlns:a16="http://schemas.microsoft.com/office/drawing/2014/main" id="{FFD9A0CF-7C10-22D9-8AD5-370784C915F4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btfpColumnIndicator602022">
            <a:extLst>
              <a:ext uri="{FF2B5EF4-FFF2-40B4-BE49-F238E27FC236}">
                <a16:creationId xmlns:a16="http://schemas.microsoft.com/office/drawing/2014/main" id="{FC20CBF9-434A-3B35-C033-4036368C6EDA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btfpColumnIndicator751769">
            <a:extLst>
              <a:ext uri="{FF2B5EF4-FFF2-40B4-BE49-F238E27FC236}">
                <a16:creationId xmlns:a16="http://schemas.microsoft.com/office/drawing/2014/main" id="{9841BE6B-2EC4-BDF0-84C0-27D20EC8B609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btfpColumnIndicator880082">
            <a:extLst>
              <a:ext uri="{FF2B5EF4-FFF2-40B4-BE49-F238E27FC236}">
                <a16:creationId xmlns:a16="http://schemas.microsoft.com/office/drawing/2014/main" id="{DEBE5892-68FF-16B5-7CB9-776D3F45C942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btfpColumnIndicator340751">
            <a:extLst>
              <a:ext uri="{FF2B5EF4-FFF2-40B4-BE49-F238E27FC236}">
                <a16:creationId xmlns:a16="http://schemas.microsoft.com/office/drawing/2014/main" id="{E805A202-A130-F7EA-2E31-950B5A791708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&amp; CATALYSTS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move the thesis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6642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160934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 risk — the stock already discounts the bull case; disappointment leaves little support.</a:t>
            </a:r>
            <a:endParaRPr lang="en-US" sz="11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322576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26771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cost &amp; competition — a global content arms race against deep-pocketed rivals.</a:t>
            </a:r>
            <a:endParaRPr lang="en-US" sz="11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80944"/>
            <a:ext cx="237744" cy="2377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2926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maturity — membership growth slows as penetration rises in core markets.</a:t>
            </a:r>
            <a:endParaRPr lang="en-US" sz="11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639312"/>
            <a:ext cx="237744" cy="2377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68680" y="35844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on ads — the ad business must keep scaling to justify the multiple.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4709160" y="1325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CATALYSTS</a:t>
            </a:r>
            <a:endParaRPr lang="en-US" sz="12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1664208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120640" y="160934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Advertising inflects from a small base into a high-margin revenue stream.</a:t>
            </a:r>
            <a:endParaRPr lang="en-US" sz="115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322576"/>
            <a:ext cx="237744" cy="237744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5120640" y="226771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pricing power and continued paid-sharing monetisation.</a:t>
            </a:r>
            <a:endParaRPr lang="en-US" sz="115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980944"/>
            <a:ext cx="237744" cy="237744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5120640" y="2926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leverage keeps lifting margins and free cash flow.</a:t>
            </a:r>
            <a:endParaRPr lang="en-US" sz="115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3639312"/>
            <a:ext cx="237744" cy="237744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5120640" y="35844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surfaces — live events and games — deepen engagement.</a:t>
            </a:r>
            <a:endParaRPr lang="en-US" sz="1150" dirty="0"/>
          </a:p>
        </p:txBody>
      </p:sp>
      <p:sp>
        <p:nvSpPr>
          <p:cNvPr id="22" name="Shape 12"/>
          <p:cNvSpPr/>
          <p:nvPr/>
        </p:nvSpPr>
        <p:spPr>
          <a:xfrm>
            <a:off x="457200" y="422452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CE7E8"/>
          </a:solidFill>
          <a:ln w="12700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3"/>
          <p:cNvSpPr/>
          <p:nvPr/>
        </p:nvSpPr>
        <p:spPr>
          <a:xfrm>
            <a:off x="640080" y="4261104"/>
            <a:ext cx="7909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caveat — not modelled:  </a:t>
            </a:r>
            <a:r>
              <a:rPr lang="en-US" sz="1050" dirty="0">
                <a:solidFill>
                  <a:srgbClr val="5A1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Netflix's announced all-cash acquisition of Warner Bros. (Dec-2025, ~$72B equity value) would materially change debt, share count and the growth/margin profile. This analysis values Netflix standalone.</a:t>
            </a:r>
            <a:endParaRPr lang="en-US" sz="1050" dirty="0"/>
          </a:p>
        </p:txBody>
      </p:sp>
      <p:sp>
        <p:nvSpPr>
          <p:cNvPr id="24" name="Text 14"/>
          <p:cNvSpPr/>
          <p:nvPr/>
        </p:nvSpPr>
        <p:spPr>
          <a:xfrm>
            <a:off x="457200" y="48508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NFLX · Equity Valuation</a:t>
            </a:r>
            <a:endParaRPr lang="en-US" sz="800" dirty="0"/>
          </a:p>
        </p:txBody>
      </p:sp>
      <p:sp>
        <p:nvSpPr>
          <p:cNvPr id="25" name="Text 15"/>
          <p:cNvSpPr/>
          <p:nvPr/>
        </p:nvSpPr>
        <p:spPr>
          <a:xfrm>
            <a:off x="8229600" y="48508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btfpColumnGapBlocker546633">
            <a:extLst>
              <a:ext uri="{FF2B5EF4-FFF2-40B4-BE49-F238E27FC236}">
                <a16:creationId xmlns:a16="http://schemas.microsoft.com/office/drawing/2014/main" id="{1E6C7DA0-3FE2-BE83-520C-3EFCFF7F8F8F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btfpColumnGapBlocker146411">
            <a:extLst>
              <a:ext uri="{FF2B5EF4-FFF2-40B4-BE49-F238E27FC236}">
                <a16:creationId xmlns:a16="http://schemas.microsoft.com/office/drawing/2014/main" id="{474014DD-F565-4206-E1A1-A74F65BFDB45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btfpColumnIndicator925092">
            <a:extLst>
              <a:ext uri="{FF2B5EF4-FFF2-40B4-BE49-F238E27FC236}">
                <a16:creationId xmlns:a16="http://schemas.microsoft.com/office/drawing/2014/main" id="{2B926704-0E9E-59E2-4A7F-FE6C4658252B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btfpColumnIndicator618102">
            <a:extLst>
              <a:ext uri="{FF2B5EF4-FFF2-40B4-BE49-F238E27FC236}">
                <a16:creationId xmlns:a16="http://schemas.microsoft.com/office/drawing/2014/main" id="{388C6037-0DBE-8C30-0742-C19F17BC6FBA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btfpColumnIndicator491788">
            <a:extLst>
              <a:ext uri="{FF2B5EF4-FFF2-40B4-BE49-F238E27FC236}">
                <a16:creationId xmlns:a16="http://schemas.microsoft.com/office/drawing/2014/main" id="{902C1541-3D7A-EAFA-A8A8-481B9D557F79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btfpColumnIndicator479943">
            <a:extLst>
              <a:ext uri="{FF2B5EF4-FFF2-40B4-BE49-F238E27FC236}">
                <a16:creationId xmlns:a16="http://schemas.microsoft.com/office/drawing/2014/main" id="{D6A48DA2-2604-B7FB-D5C4-1019AD5AB7BB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btfpColumnGapBlocker547989">
            <a:extLst>
              <a:ext uri="{FF2B5EF4-FFF2-40B4-BE49-F238E27FC236}">
                <a16:creationId xmlns:a16="http://schemas.microsoft.com/office/drawing/2014/main" id="{3DDBBF8B-B7B4-7FD8-72AB-D9494A1A677F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btfpColumnIndicator912362">
            <a:extLst>
              <a:ext uri="{FF2B5EF4-FFF2-40B4-BE49-F238E27FC236}">
                <a16:creationId xmlns:a16="http://schemas.microsoft.com/office/drawing/2014/main" id="{1AA1B20B-76BA-3295-D12D-34613E1599B8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btfpColumnIndicator115005">
            <a:extLst>
              <a:ext uri="{FF2B5EF4-FFF2-40B4-BE49-F238E27FC236}">
                <a16:creationId xmlns:a16="http://schemas.microsoft.com/office/drawing/2014/main" id="{FB7F030C-CB3D-93E4-CDF9-1720DA8500AF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btfpColumnIndicator768577">
            <a:extLst>
              <a:ext uri="{FF2B5EF4-FFF2-40B4-BE49-F238E27FC236}">
                <a16:creationId xmlns:a16="http://schemas.microsoft.com/office/drawing/2014/main" id="{86BE971B-84AF-8034-CB8C-7A27C3AC1C04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btfpColumnIndicator211540">
            <a:extLst>
              <a:ext uri="{FF2B5EF4-FFF2-40B4-BE49-F238E27FC236}">
                <a16:creationId xmlns:a16="http://schemas.microsoft.com/office/drawing/2014/main" id="{0D25DBDC-F5CD-7C0B-BE58-0DDE42B4450C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640080" y="6400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great business at a demanding price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955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AD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 has won streaming and turned scale into real cash generation. But at ~$110 the market already pays for the bull case: a base-case DCF of </a:t>
            </a: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</a:t>
            </a:r>
            <a:r>
              <a:rPr lang="en-US" sz="1500" dirty="0">
                <a:solidFill>
                  <a:srgbClr val="DAD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a comparable-company read near </a:t>
            </a: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</a:t>
            </a:r>
            <a:r>
              <a:rPr lang="en-US" sz="1500" dirty="0">
                <a:solidFill>
                  <a:srgbClr val="DAD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both sit well below the share price, with only the bull scenario (</a:t>
            </a: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$115</a:t>
            </a:r>
            <a:r>
              <a:rPr lang="en-US" sz="1500" dirty="0">
                <a:solidFill>
                  <a:srgbClr val="DADA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clearing it. The risk/reward is unattractive at today's level; we would want a lower entry price or evidence that reality beats the base case.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1F1F1F"/>
          </a:solidFill>
          <a:ln w="15875">
            <a:solidFill>
              <a:srgbClr val="B046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34930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9136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04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51760" y="338328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1F1F1F"/>
          </a:solidFill>
          <a:ln w="15875">
            <a:solidFill>
              <a:srgbClr val="3D5A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651760" y="34930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651760" y="39136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5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338328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1F1F1F"/>
          </a:solidFill>
          <a:ln w="15875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63440" y="34930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663440" y="39136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675120" y="338328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1F1F1F"/>
          </a:solidFill>
          <a:ln w="15875">
            <a:solidFill>
              <a:srgbClr val="E509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34930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$110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675120" y="39136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Educational / portfolio analysis. Not investment advice. Share price is a post-split reference; refresh before use.</a:t>
            </a:r>
            <a:endParaRPr lang="en-US" sz="950" dirty="0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btfpColumnGapBlocker583463">
            <a:extLst>
              <a:ext uri="{FF2B5EF4-FFF2-40B4-BE49-F238E27FC236}">
                <a16:creationId xmlns:a16="http://schemas.microsoft.com/office/drawing/2014/main" id="{8725C40F-CA36-9E4C-566E-EC53D9C475BE}"/>
              </a:ext>
            </a:extLst>
          </p:cNvPr>
          <p:cNvSpPr/>
          <p:nvPr/>
        </p:nvSpPr>
        <p:spPr>
          <a:xfrm>
            <a:off x="0" y="519493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btfpColumnGapBlocker933751">
            <a:extLst>
              <a:ext uri="{FF2B5EF4-FFF2-40B4-BE49-F238E27FC236}">
                <a16:creationId xmlns:a16="http://schemas.microsoft.com/office/drawing/2014/main" id="{06778A2A-5E48-5428-9C05-B857640D7136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btfpColumnIndicator106682">
            <a:extLst>
              <a:ext uri="{FF2B5EF4-FFF2-40B4-BE49-F238E27FC236}">
                <a16:creationId xmlns:a16="http://schemas.microsoft.com/office/drawing/2014/main" id="{59F9603A-7633-8307-6530-886FA4A0CCF0}"/>
              </a:ext>
            </a:extLst>
          </p:cNvPr>
          <p:cNvCxnSpPr/>
          <p:nvPr/>
        </p:nvCxnSpPr>
        <p:spPr>
          <a:xfrm flipV="1">
            <a:off x="118618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btfpColumnIndicator573659">
            <a:extLst>
              <a:ext uri="{FF2B5EF4-FFF2-40B4-BE49-F238E27FC236}">
                <a16:creationId xmlns:a16="http://schemas.microsoft.com/office/drawing/2014/main" id="{196887A0-C66A-ED08-882C-4E548558DAA3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btfpColumnIndicator451435">
            <a:extLst>
              <a:ext uri="{FF2B5EF4-FFF2-40B4-BE49-F238E27FC236}">
                <a16:creationId xmlns:a16="http://schemas.microsoft.com/office/drawing/2014/main" id="{AD45E5A1-DEAA-1714-2846-6F303ED4F669}"/>
              </a:ext>
            </a:extLst>
          </p:cNvPr>
          <p:cNvCxnSpPr/>
          <p:nvPr/>
        </p:nvCxnSpPr>
        <p:spPr>
          <a:xfrm flipV="1">
            <a:off x="330200" y="519493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btfpColumnIndicator262509">
            <a:extLst>
              <a:ext uri="{FF2B5EF4-FFF2-40B4-BE49-F238E27FC236}">
                <a16:creationId xmlns:a16="http://schemas.microsoft.com/office/drawing/2014/main" id="{36227E7C-2FED-7C9C-91E9-BDB0CC94A827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btfpColumnGapBlocker424614">
            <a:extLst>
              <a:ext uri="{FF2B5EF4-FFF2-40B4-BE49-F238E27FC236}">
                <a16:creationId xmlns:a16="http://schemas.microsoft.com/office/drawing/2014/main" id="{43634E32-CBC2-0FC4-15F5-30AEBE87EEE8}"/>
              </a:ext>
            </a:extLst>
          </p:cNvPr>
          <p:cNvSpPr/>
          <p:nvPr/>
        </p:nvSpPr>
        <p:spPr>
          <a:xfrm>
            <a:off x="0" y="-154305"/>
            <a:ext cx="330200" cy="102870"/>
          </a:xfrm>
          <a:prstGeom prst="rect">
            <a:avLst/>
          </a:prstGeom>
          <a:pattFill prst="ltUpDiag">
            <a:fgClr>
              <a:srgbClr val="BBCABA"/>
            </a:fgClr>
            <a:bgClr>
              <a:srgbClr val="FFFFFF"/>
            </a:bgClr>
          </a:patt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btfpColumnIndicator545046">
            <a:extLst>
              <a:ext uri="{FF2B5EF4-FFF2-40B4-BE49-F238E27FC236}">
                <a16:creationId xmlns:a16="http://schemas.microsoft.com/office/drawing/2014/main" id="{35876F81-7B31-8E95-C031-454A1DCEB2DE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btfpColumnIndicator789231">
            <a:extLst>
              <a:ext uri="{FF2B5EF4-FFF2-40B4-BE49-F238E27FC236}">
                <a16:creationId xmlns:a16="http://schemas.microsoft.com/office/drawing/2014/main" id="{1FB662C2-2124-5C18-45F0-5603F8187B40}"/>
              </a:ext>
            </a:extLst>
          </p:cNvPr>
          <p:cNvCxnSpPr/>
          <p:nvPr/>
        </p:nvCxnSpPr>
        <p:spPr>
          <a:xfrm flipV="1">
            <a:off x="3302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btfpColumnIndicator346638">
            <a:extLst>
              <a:ext uri="{FF2B5EF4-FFF2-40B4-BE49-F238E27FC236}">
                <a16:creationId xmlns:a16="http://schemas.microsoft.com/office/drawing/2014/main" id="{5D96B3BA-1F1E-284E-2E4D-110F8409D122}"/>
              </a:ext>
            </a:extLst>
          </p:cNvPr>
          <p:cNvCxnSpPr/>
          <p:nvPr/>
        </p:nvCxnSpPr>
        <p:spPr>
          <a:xfrm flipV="1">
            <a:off x="11861800" y="-154305"/>
            <a:ext cx="0" cy="102870"/>
          </a:xfrm>
          <a:prstGeom prst="line">
            <a:avLst/>
          </a:prstGeom>
          <a:ln w="19050" cap="flat" cmpd="sng" algn="ctr">
            <a:solidFill>
              <a:srgbClr val="507867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&amp; disclosures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48840" y="1371600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Netflix figures from the FY2025 shareholder letter (Jan-2026) and filings. Peer multiples are illustrative placeholders pending a refresh.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197510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method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48840" y="1975104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FCF-margin approach (revenue × FCF margin), appropriate where content accounting distorts a textbook build-up; mid-year discounting; Gordon-growth terminal value.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57860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capital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48840" y="2578608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CAPM: risk-free + β × equity-risk-premium; after-tax cost of debt; market-value weights. Net-cash treatment floors the debt weight at zero.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31821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48840" y="3182112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here is produced by the same Python engine that drives the repo's Excel model and Streamlit dashboard — the three reconcile to the cent.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78561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509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modelled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48840" y="3785616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pending Warner Bros. acquisition; any post-FY2025 trading. Share price is a post 10:1-split reference and should be refreshed to a live quote.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Educational / portfolio analysis — not investment advice.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8508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NFLX · Equity Valuation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485089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COLUMNGUIDE" val="Visible"/>
  <p:tag name="MEKKOFORMATS" val="&lt;MekkoFormats&gt;&lt;NumberFormat DecimalSeparator=&quot;.&quot; ThousandSeparator=&quot;,&quot; NegativeNumberFormat=&quot;1&quot; /&gt;&lt;DateFormat CultureID=&quot;1033&quot; FormatString=&quot;M/d/yyyy&quot; /&gt;&lt;Font&gt;&lt;Output_Font_Name Default=&quot;Arial&quot; UsePPTTheme=&quot;True&quot; /&gt;&lt;/Font&gt;&lt;/MekkoFormat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1541</Words>
  <Application>Microsoft Office PowerPoint</Application>
  <PresentationFormat>On-screen Show (16:9)</PresentationFormat>
  <Paragraphs>215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Netflix (NFLX) — Equity Valuation</dc:title>
  <dc:subject>PptxGenJS Presentation</dc:subject>
  <dc:creator>Yashdeep Singh</dc:creator>
  <cp:lastModifiedBy>Singh, Yashdeep</cp:lastModifiedBy>
  <cp:revision>3</cp:revision>
  <dcterms:created xsi:type="dcterms:W3CDTF">2026-06-21T18:12:17Z</dcterms:created>
  <dcterms:modified xsi:type="dcterms:W3CDTF">2026-06-22T05:32:13Z</dcterms:modified>
</cp:coreProperties>
</file>