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</c:v>
                </c:pt>
                <c:pt idx="1">
                  <c:v>33.7</c:v>
                </c:pt>
                <c:pt idx="2">
                  <c:v>39</c:v>
                </c:pt>
                <c:pt idx="3">
                  <c:v>45.2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5.6</c:v>
                </c:pt>
                <c:pt idx="1">
                  <c:v>7</c:v>
                </c:pt>
                <c:pt idx="2">
                  <c:v>10.4</c:v>
                </c:pt>
                <c:pt idx="3">
                  <c:v>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39.4</c:v>
                </c:pt>
                <c:pt idx="1">
                  <c:v>41.5</c:v>
                </c:pt>
                <c:pt idx="2">
                  <c:v>46.1</c:v>
                </c:pt>
                <c:pt idx="3">
                  <c:v>48.5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3D5A80"/>
            </a:solidFill>
            <a:ln w="31750" cap="flat">
              <a:solidFill>
                <a:srgbClr val="3D5A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</c:v>
                </c:pt>
                <c:pt idx="1">
                  <c:v>20.6</c:v>
                </c:pt>
                <c:pt idx="2">
                  <c:v>26.7</c:v>
                </c:pt>
                <c:pt idx="3">
                  <c:v>29.5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14.2</c:v>
                </c:pt>
                <c:pt idx="1">
                  <c:v>16</c:v>
                </c:pt>
                <c:pt idx="2">
                  <c:v>22.3</c:v>
                </c:pt>
                <c:pt idx="3">
                  <c:v>24.3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FCF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5.1</c:v>
                </c:pt>
                <c:pt idx="1">
                  <c:v>20.5</c:v>
                </c:pt>
                <c:pt idx="2">
                  <c:v>17.7</c:v>
                </c:pt>
                <c:pt idx="3">
                  <c:v>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Netflix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NFLX</c:v>
                  </c:pt>
                  <c:pt idx="1">
                    <c:v>CMCSA</c:v>
                  </c:pt>
                  <c:pt idx="2">
                    <c:v>DIS</c:v>
                  </c:pt>
                  <c:pt idx="3">
                    <c:v>PSKY</c:v>
                  </c:pt>
                  <c:pt idx="4">
                    <c:v>SPOT</c:v>
                  </c:pt>
                  <c:pt idx="5">
                    <c:v>WBD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10.394617444614125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Peers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NFLX</c:v>
                  </c:pt>
                  <c:pt idx="1">
                    <c:v>CMCSA</c:v>
                  </c:pt>
                  <c:pt idx="2">
                    <c:v>DIS</c:v>
                  </c:pt>
                  <c:pt idx="3">
                    <c:v>PSKY</c:v>
                  </c:pt>
                  <c:pt idx="4">
                    <c:v>SPOT</c:v>
                  </c:pt>
                  <c:pt idx="5">
                    <c:v>WBD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1.9</c:v>
                </c:pt>
                <c:pt idx="2">
                  <c:v>2.6</c:v>
                </c:pt>
                <c:pt idx="3">
                  <c:v>0.7</c:v>
                </c:pt>
                <c:pt idx="4">
                  <c:v>6.3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Value/share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8.5%</c:v>
                  </c:pt>
                  <c:pt idx="1">
                    <c:v>9.5%</c:v>
                  </c:pt>
                  <c:pt idx="2">
                    <c:v>10.8%</c:v>
                  </c:pt>
                  <c:pt idx="3">
                    <c:v>11.5%</c:v>
                  </c:pt>
                  <c:pt idx="4">
                    <c:v>12.5%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63</c:v>
                </c:pt>
                <c:pt idx="2">
                  <c:v>52</c:v>
                </c:pt>
                <c:pt idx="3">
                  <c:v>48</c:v>
                </c:pt>
                <c:pt idx="4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Value/share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2.0%</c:v>
                  </c:pt>
                  <c:pt idx="1">
                    <c:v>2.5%</c:v>
                  </c:pt>
                  <c:pt idx="2">
                    <c:v>3.0%</c:v>
                  </c:pt>
                  <c:pt idx="3">
                    <c:v>3.5%</c:v>
                  </c:pt>
                  <c:pt idx="4">
                    <c:v>4.0%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50</c:v>
                </c:pt>
                <c:pt idx="2">
                  <c:v>52</c:v>
                </c:pt>
                <c:pt idx="3">
                  <c:v>55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Initiation-style valuation of Netflix. The framework (Python + SQL + Excel + this deck) is reusable for any company; Netflix is the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BLUF slide. Lead with the range vs price. The honest conclusion is that the stock is priced for the bull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scale + the profitability inflection. Numbers are FY2025 from the shareholder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engines. Emphasise ads + paid sharing as the recent unlocks, and that content is now self-funding.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top line and operating profit roughly doubling. Right: every margin line stepping up; FCF margin going from ~5% to ~21%.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steps. Stress that WACC is essentially the cost of equity because the balance sheet is near all-equity.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Point to the dashed price line: base and comps are far left of it; only bull crosses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Peers are illustrative placeholders — flag that. The point is the size of Netflix's premium, not the precise implied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one-way sensitivities. The takeaway: small WACC changes swing the value a lot, so the discount-rate assumption dominates.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two-column view. The WBD deal is the single biggest thing deliberately left out of the model — call it out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thesis: quality business, but priced for perfection. State what would change the view (lower price or above-base execution).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Disclosure slide. The reconciliation point (deck = Excel = dashboard = engine) is the credibility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· INITIATION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556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Netflix, Inc.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2615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Valuation</a:t>
            </a:r>
            <a:pPr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(NASDAQ: NFLX)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+ comparable-company analysis · base year FY2025 · a reusable valuation framework demonstrated on Netflix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Yashdeep Singh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/ portfolio analysis — not investment advice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perfection — limited margin of safety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72184"/>
            <a:ext cx="18105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0345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price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51176" y="132588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42616" y="1472184"/>
            <a:ext cx="18105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642616" y="20345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value/share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132588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1472184"/>
            <a:ext cx="18105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$35–$115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27448" y="20345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range (bear–bull)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9984" y="1325880"/>
            <a:ext cx="1956816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1472184"/>
            <a:ext cx="17739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-52%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21424" y="20345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vs price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take.  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is a high-quality, cash-generative franchise — revenue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$45.2B (+16%)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operating margin near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free cash flow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$9.5B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But at ~$110 the market already prices the bull case: only that scenario brackets the share price, while the base case and the comparable-company read sit well below it. The valuation is demanding and the margin of safety is thin.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$35</a:t>
            </a:r>
            <a:pPr algn="l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Comps $50</a:t>
            </a:r>
            <a:pPr algn="l"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Base $52</a:t>
            </a:r>
            <a:pPr algn="l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Bull $115</a:t>
            </a:r>
            <a:pPr algn="l"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vs price $110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streaming at scale, now firmly profitable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554480"/>
            <a:ext cx="530352" cy="530352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324" y="169237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12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$45.2B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640" y="25968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revenue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07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year over year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9464" y="13716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82696" y="1554480"/>
            <a:ext cx="530352" cy="530352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588" y="169237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212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~325M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2660904" y="25968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memberships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660904" y="2807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+23M net adds in FY2025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81728" y="13716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1554480"/>
            <a:ext cx="530352" cy="530352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852" y="169237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73168" y="2212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4773168" y="25968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773168" y="2807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~18% in FY2022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93992" y="13716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07224" y="1554480"/>
            <a:ext cx="530352" cy="530352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116" y="1692372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2212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$9.5B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6885432" y="25968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85432" y="2807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~$1.6B in FY2022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is the largest paid streaming service worldwide, monetising one content library across ~190 countries.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shifts reshaped the model since 2022: paid sharing converted freeloaders into subscribers, a lower-priced ad tier opened a second revenue stream (&gt;$1.5B in FY2025), and operating discipline turned years of content cash burn into substantial free cash flow.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numbers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66928" cy="56692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5190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80160" y="16642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across tiers; pricing power demonstrated through repeated increases with low churn.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21992"/>
            <a:ext cx="566928" cy="56692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" y="236939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2037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8016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Lower-priced ad tier scaling fast (&gt;$1.5B FY2025) — a higher-margin, still-early revenue line.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072384"/>
            <a:ext cx="566928" cy="56692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321978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54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80160" y="33649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Crackdown on password sharing converted non-paying viewers into ~325M paying memberships.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922776"/>
            <a:ext cx="566928" cy="56692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" y="407017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engine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80160" y="42153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slate plus live events and games; spend is increasingly funded from operating cash flow.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margin expansion and a cash-flow inflection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operating income ($B)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5448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 (% of revenue)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5544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intrinsic value is built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98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533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free cash flow  —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revenue forecast × an FCF-margin path (cleaner than a textbook build-up for content-heavy businesses).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at WACC  —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 cost of capital, mid-year convention. Netflix is ~99% equity-funded, so WACC sits just under the cost of equity.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237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terminal value  —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Gordon-growth perpetuity on the final-year cash flow; terminal value is ~74% of enterprise value.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906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0540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per share  —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less net debt ($5.5B), divided by ~4.2bn shares.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42316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55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3957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equity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 (β 1.20)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After-tax cost of debt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weight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mirrors the repo's Python engine and Excel model — all three reconcile to the same per-share values.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range vs. the market price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6916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489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635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208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78140" y="3968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490472"/>
            <a:ext cx="0" cy="236829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636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600200"/>
            <a:ext cx="1772022" cy="365760"/>
          </a:xfrm>
          <a:prstGeom prst="roundRect">
            <a:avLst>
              <a:gd name="adj" fmla="val 10000"/>
            </a:avLst>
          </a:prstGeom>
          <a:solidFill>
            <a:srgbClr val="B0463C"/>
          </a:solidFill>
          <a:ln/>
        </p:spPr>
      </p:sp>
      <p:sp>
        <p:nvSpPr>
          <p:cNvPr id="13" name="Text 11"/>
          <p:cNvSpPr/>
          <p:nvPr/>
        </p:nvSpPr>
        <p:spPr>
          <a:xfrm>
            <a:off x="3811134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1671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65960" y="2203704"/>
            <a:ext cx="2507377" cy="36576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489" y="22037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27706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2807208"/>
            <a:ext cx="2632830" cy="36576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/>
        </p:spPr>
      </p:sp>
      <p:sp>
        <p:nvSpPr>
          <p:cNvPr id="19" name="Text 17"/>
          <p:cNvSpPr/>
          <p:nvPr/>
        </p:nvSpPr>
        <p:spPr>
          <a:xfrm>
            <a:off x="4671942" y="2807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3741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65960" y="3410712"/>
            <a:ext cx="5794575" cy="3657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7833687" y="34107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1399032"/>
            <a:ext cx="0" cy="2459736"/>
          </a:xfrm>
          <a:prstGeom prst="line">
            <a:avLst/>
          </a:prstGeom>
          <a:noFill/>
          <a:ln w="22225">
            <a:solidFill>
              <a:srgbClr val="E5091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720840" y="1143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$110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bull case clears the share price. 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DCF ($226.4B EV) and the peer-multiple read both land roughly 50% below today's price — the market is paying for sustained high-teens growth, low-30s FCF margins and a lower cost of capital, all at once.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COMPANIES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steep premium to legacy media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005840"/>
                <a:gridCol w="822960"/>
                <a:gridCol w="640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EV/Sales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EV/EBITDA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EV/EBIT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NFLX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CMCSA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PSKY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median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Sales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49240" y="1600200"/>
          <a:ext cx="3337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trades around 10× sales and 42× earnings versus a peer median near 2× — justified only by superior growth and margins. Applying peer medians to Netflix implies ~$50/share.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rate is the single biggest lever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Value/share vs. WACC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54480"/>
          <a:ext cx="4297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Value/share vs. terminal growth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554480"/>
          <a:ext cx="4297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levers are powerful in a terminal-value-heavy DCF.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WACC from ~10.8% toward 8.5% nearly doubles the value — which is exactly why the bull case (lower cost of capital + faster growth) is the only one that reaches today's price.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CATALYSTS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move the thesis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93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risk — the stock already discounts the bull case; disappointment leaves little support.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25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2677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cost &amp; competition — a global content arms race against deep-pocketed rivals.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80944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maturity — membership growth slows as penetration rises in core markets.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3931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5844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on ads — the ad business must keep scaling to justify the multiple.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7091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6420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16093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inflects from a small base into a high-margin revenue stream.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32257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22677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pricing power and continued paid-sharing monetisation.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980944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leverage keeps lifting margins and free cash flow.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639312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0640" y="35844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surfaces — live events and games — deepen engagement.</a:t>
            </a:r>
            <a:endParaRPr lang="en-US" sz="1150" dirty="0"/>
          </a:p>
        </p:txBody>
      </p:sp>
      <p:sp>
        <p:nvSpPr>
          <p:cNvPr id="22" name="Shape 12"/>
          <p:cNvSpPr/>
          <p:nvPr/>
        </p:nvSpPr>
        <p:spPr>
          <a:xfrm>
            <a:off x="457200" y="42245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CE7E8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640080" y="4261104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caveat — not modelled:  </a:t>
            </a:r>
            <a:pPr indent="0" marL="0">
              <a:buNone/>
            </a:pPr>
            <a:r>
              <a:rPr lang="en-US" sz="1050" dirty="0">
                <a:solidFill>
                  <a:srgbClr val="5A1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Netflix's announced all-cash acquisition of Warner Bros. (Dec-2025, ~$72B equity value) would materially change debt, share count and the growth/margin profile. This analysis values Netflix standalone.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business at a demanding price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has won streaming and turned scale into real cash generation. But at ~$110 the market already pays for the bull case: a base-case DCF of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comparable-company read near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sit well below the share price, with only the bull scenario (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clearing it. The risk/reward is unattractive at today's level; we would want a lower entry price or evidence that reality beats the base case.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5875">
            <a:solidFill>
              <a:srgbClr val="B04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383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383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383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512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/ portfolio analysis. Not investment advice. Share price is a post-split reference; refresh before use.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disclosures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48840" y="137160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figures from the FY2025 shareholder letter (Jan-2026) and filings. Peer multiples are illustrative placeholders pending a refresh.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975104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FCF-margin approach (revenue × FCF margin), appropriate where content accounting distorts a textbook build-up; mid-year discounting; Gordon-growth terminal value.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capital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2578608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CAPM: risk-free + β × equity-risk-premium; after-tax cost of debt; market-value weights. Net-cash treatment floors the debt weight at zero.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3182112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here is produced by the same Python engine that drives the repo's Excel model and Streamlit dashboard — the three reconcile to the cent.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856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modelled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3785616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pending Warner Bros. acquisition; any post-FY2025 trading. Share price is a post 10:1-split reference and should be refreshed to a live quote.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/ portfolio analysis — not investment advice.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NFLX · Equity Valuation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508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(NFLX) — Equity Valuation</dc:title>
  <dc:subject>PptxGenJS Presentation</dc:subject>
  <dc:creator>Yashdeep Singh</dc:creator>
  <cp:lastModifiedBy>Yashdeep Singh</cp:lastModifiedBy>
  <cp:revision>1</cp:revision>
  <dcterms:created xsi:type="dcterms:W3CDTF">2026-06-21T18:12:17Z</dcterms:created>
  <dcterms:modified xsi:type="dcterms:W3CDTF">2026-06-21T18:12:17Z</dcterms:modified>
</cp:coreProperties>
</file>